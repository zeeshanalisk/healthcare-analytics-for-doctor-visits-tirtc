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40" r:id="rId5"/>
    <p:sldId id="327" r:id="rId6"/>
    <p:sldId id="315" r:id="rId7"/>
    <p:sldId id="329" r:id="rId8"/>
    <p:sldId id="302" r:id="rId9"/>
    <p:sldId id="339" r:id="rId10"/>
    <p:sldId id="341" r:id="rId11"/>
    <p:sldId id="342" r:id="rId12"/>
    <p:sldId id="343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eshanalisk/Healthcare-Analytics-for-Doctor-Visits-TIRT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0vGuPkeHhszNCrWL3-2D1G4KOPCS4UYk?usp=sharing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zeeshanalisk/Healthcare-Analytics-for-Doctor-Visits-TIRTC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hyperlink" Target="https://colab.research.google.com/drive/10vGuPkeHhszNCrWL3-2D1G4KOPCS4UYk?usp=sharing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272" y="3956196"/>
            <a:ext cx="6573928" cy="4385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Student Name : </a:t>
            </a: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ZEESHAN ALI SHEIKH</a:t>
            </a:r>
            <a:endParaRPr lang="en-IN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52" y="2881502"/>
            <a:ext cx="9958535" cy="953395"/>
          </a:xfrm>
        </p:spPr>
        <p:txBody>
          <a:bodyPr>
            <a:normAutofit fontScale="90000"/>
          </a:bodyPr>
          <a:lstStyle/>
          <a:p>
            <a:r>
              <a:rPr lang="en-GB" sz="3100" b="1" dirty="0"/>
              <a:t>PROJECT TITLE </a:t>
            </a:r>
            <a:r>
              <a:rPr lang="en-GB" sz="3100" dirty="0"/>
              <a:t>– </a:t>
            </a:r>
            <a:br>
              <a:rPr lang="en-GB" sz="3200" dirty="0"/>
            </a:br>
            <a:r>
              <a:rPr lang="en-US" sz="3200" dirty="0"/>
              <a:t>Healthcare Analytics For Doctor </a:t>
            </a:r>
            <a:r>
              <a:rPr lang="en-US" sz="3200" dirty="0" err="1"/>
              <a:t>Visit_TIRTC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069374" y="4679289"/>
            <a:ext cx="57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GB" dirty="0"/>
              <a:t>STU69f200fb9d16a1777467643</a:t>
            </a:r>
            <a:endParaRPr lang="en-US" b="1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423D4322-A903-A82D-8A0C-8D8A0ADFA586}"/>
              </a:ext>
            </a:extLst>
          </p:cNvPr>
          <p:cNvSpPr txBox="1"/>
          <p:nvPr/>
        </p:nvSpPr>
        <p:spPr>
          <a:xfrm>
            <a:off x="801811" y="2578064"/>
            <a:ext cx="530352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0070C0"/>
                </a:solidFill>
                <a:latin typeface="Arial"/>
              </a:rPr>
              <a:t>TIRTC PROJECT SUBMISSION</a:t>
            </a:r>
          </a:p>
        </p:txBody>
      </p:sp>
    </p:spTree>
    <p:extLst>
      <p:ext uri="{BB962C8B-B14F-4D97-AF65-F5344CB8AC3E}">
        <p14:creationId xmlns:p14="http://schemas.microsoft.com/office/powerpoint/2010/main" val="37799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PROBLEM</a:t>
            </a:r>
            <a:r>
              <a:rPr lang="en-US" dirty="0"/>
              <a:t>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595" y="2767086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E0FB8A-0848-1003-6950-999C95D5AA24}"/>
              </a:ext>
            </a:extLst>
          </p:cNvPr>
          <p:cNvSpPr txBox="1"/>
          <p:nvPr/>
        </p:nvSpPr>
        <p:spPr>
          <a:xfrm>
            <a:off x="858414" y="1600200"/>
            <a:ext cx="786384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latin typeface="Arial"/>
              </a:rPr>
              <a:t>The Challenge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5C832C-A438-F1C0-2633-E65606AD11C5}"/>
              </a:ext>
            </a:extLst>
          </p:cNvPr>
          <p:cNvSpPr txBox="1"/>
          <p:nvPr/>
        </p:nvSpPr>
        <p:spPr>
          <a:xfrm>
            <a:off x="858414" y="1965960"/>
            <a:ext cx="78638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latin typeface="Arial"/>
              </a:rPr>
              <a:t>People differ in how often they visit a doctor. Health conditions, illness burden, age and access to healthcare may be related to these differences.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F545B-4D9B-FE50-4A1B-5A1508B63A6C}"/>
              </a:ext>
            </a:extLst>
          </p:cNvPr>
          <p:cNvSpPr txBox="1"/>
          <p:nvPr/>
        </p:nvSpPr>
        <p:spPr>
          <a:xfrm>
            <a:off x="858414" y="2944368"/>
            <a:ext cx="786384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000" b="1" i="0">
                <a:latin typeface="Arial"/>
              </a:rPr>
              <a:t>The Data Gap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1364F-CE34-F0E9-F777-4AF1C0A29980}"/>
              </a:ext>
            </a:extLst>
          </p:cNvPr>
          <p:cNvSpPr txBox="1"/>
          <p:nvPr/>
        </p:nvSpPr>
        <p:spPr>
          <a:xfrm>
            <a:off x="858414" y="3310128"/>
            <a:ext cx="78638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latin typeface="Arial"/>
              </a:rPr>
              <a:t>Raw records do not show the main patterns clearly until they are checked, summarized and compared using data analysis.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CA18CF-BFD9-02D0-5A89-D15D71177780}"/>
              </a:ext>
            </a:extLst>
          </p:cNvPr>
          <p:cNvSpPr txBox="1"/>
          <p:nvPr/>
        </p:nvSpPr>
        <p:spPr>
          <a:xfrm>
            <a:off x="858414" y="4297680"/>
            <a:ext cx="786384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latin typeface="Arial"/>
              </a:rPr>
              <a:t>Project Goal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A94E53-9BE4-25A3-87AA-FDA0801D20F7}"/>
              </a:ext>
            </a:extLst>
          </p:cNvPr>
          <p:cNvSpPr txBox="1"/>
          <p:nvPr/>
        </p:nvSpPr>
        <p:spPr>
          <a:xfrm>
            <a:off x="858414" y="4663440"/>
            <a:ext cx="78638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latin typeface="Arial"/>
              </a:rPr>
              <a:t>Us</a:t>
            </a:r>
            <a:r>
              <a:rPr lang="en-US" sz="1800" b="0" i="0" dirty="0">
                <a:latin typeface="Arial"/>
              </a:rPr>
              <a:t>ing</a:t>
            </a:r>
            <a:r>
              <a:rPr sz="1800" b="0" i="0" dirty="0">
                <a:latin typeface="Arial"/>
              </a:rPr>
              <a:t> the supplied dataset to explore doctor visits and identify descriptive relationships with health and personal factors.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09" y="525668"/>
            <a:ext cx="6276109" cy="830997"/>
          </a:xfrm>
        </p:spPr>
        <p:txBody>
          <a:bodyPr>
            <a:normAutofit/>
          </a:bodyPr>
          <a:lstStyle/>
          <a:p>
            <a:r>
              <a:rPr lang="en-GB" sz="4000" dirty="0"/>
              <a:t>PROJECT</a:t>
            </a:r>
            <a:r>
              <a:rPr lang="en-GB" sz="4400" dirty="0"/>
              <a:t> DESCRIPTION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0D9FFE3-6CD6-3F82-16CE-357FEF51869D}"/>
              </a:ext>
            </a:extLst>
          </p:cNvPr>
          <p:cNvSpPr txBox="1"/>
          <p:nvPr/>
        </p:nvSpPr>
        <p:spPr>
          <a:xfrm>
            <a:off x="4822622" y="2084461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D9B83"/>
                </a:solidFill>
                <a:latin typeface="Arial"/>
              </a:rPr>
              <a:t>ANALYSIS WORKFLOW</a:t>
            </a:r>
          </a:p>
        </p:txBody>
      </p: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5237FD56-B341-7A7C-F90C-6791C67547E9}"/>
              </a:ext>
            </a:extLst>
          </p:cNvPr>
          <p:cNvSpPr/>
          <p:nvPr/>
        </p:nvSpPr>
        <p:spPr>
          <a:xfrm>
            <a:off x="4822624" y="2487543"/>
            <a:ext cx="493776" cy="475488"/>
          </a:xfrm>
          <a:prstGeom prst="roundRect">
            <a:avLst>
              <a:gd name="adj" fmla="val 12000"/>
            </a:avLst>
          </a:prstGeom>
          <a:solidFill>
            <a:srgbClr val="238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E49CE4-DFB8-587D-0FCC-B6E684740403}"/>
              </a:ext>
            </a:extLst>
          </p:cNvPr>
          <p:cNvSpPr txBox="1"/>
          <p:nvPr/>
        </p:nvSpPr>
        <p:spPr>
          <a:xfrm>
            <a:off x="4822624" y="2514975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918E23-1CC9-4E4F-B35E-E8F9828F6AAB}"/>
              </a:ext>
            </a:extLst>
          </p:cNvPr>
          <p:cNvSpPr txBox="1"/>
          <p:nvPr/>
        </p:nvSpPr>
        <p:spPr>
          <a:xfrm>
            <a:off x="5545000" y="2469255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64B68"/>
                </a:solidFill>
                <a:latin typeface="Arial"/>
              </a:rPr>
              <a:t>Load &amp; inspect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7B5CEF-098A-3096-DBFA-0E5014914AE4}"/>
              </a:ext>
            </a:extLst>
          </p:cNvPr>
          <p:cNvSpPr txBox="1"/>
          <p:nvPr/>
        </p:nvSpPr>
        <p:spPr>
          <a:xfrm>
            <a:off x="5545000" y="2798927"/>
            <a:ext cx="4069080" cy="160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 dirty="0">
                <a:latin typeface="Arial"/>
              </a:rPr>
              <a:t>Shape, columns, data types and summary statistics.</a:t>
            </a:r>
          </a:p>
        </p:txBody>
      </p:sp>
      <p:cxnSp>
        <p:nvCxnSpPr>
          <p:cNvPr id="29" name="Connector 20">
            <a:extLst>
              <a:ext uri="{FF2B5EF4-FFF2-40B4-BE49-F238E27FC236}">
                <a16:creationId xmlns:a16="http://schemas.microsoft.com/office/drawing/2014/main" id="{9B6A8571-F183-F183-5654-FA43DA8BE7E4}"/>
              </a:ext>
            </a:extLst>
          </p:cNvPr>
          <p:cNvCxnSpPr/>
          <p:nvPr/>
        </p:nvCxnSpPr>
        <p:spPr>
          <a:xfrm>
            <a:off x="5060368" y="2981319"/>
            <a:ext cx="0" cy="228600"/>
          </a:xfrm>
          <a:prstGeom prst="line">
            <a:avLst/>
          </a:prstGeom>
          <a:ln w="16510">
            <a:solidFill>
              <a:srgbClr val="D8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1">
            <a:extLst>
              <a:ext uri="{FF2B5EF4-FFF2-40B4-BE49-F238E27FC236}">
                <a16:creationId xmlns:a16="http://schemas.microsoft.com/office/drawing/2014/main" id="{6D707CE0-8F1E-D999-03CC-E325D09AE84A}"/>
              </a:ext>
            </a:extLst>
          </p:cNvPr>
          <p:cNvSpPr/>
          <p:nvPr/>
        </p:nvSpPr>
        <p:spPr>
          <a:xfrm>
            <a:off x="4822624" y="3255639"/>
            <a:ext cx="493776" cy="475488"/>
          </a:xfrm>
          <a:prstGeom prst="roundRect">
            <a:avLst>
              <a:gd name="adj" fmla="val 12000"/>
            </a:avLst>
          </a:prstGeom>
          <a:solidFill>
            <a:srgbClr val="2D9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0C3DE3-2913-4C56-297B-2494E6FA365F}"/>
              </a:ext>
            </a:extLst>
          </p:cNvPr>
          <p:cNvSpPr txBox="1"/>
          <p:nvPr/>
        </p:nvSpPr>
        <p:spPr>
          <a:xfrm>
            <a:off x="4822624" y="3283071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AB2384-579C-9B2A-9C18-23B031F6BA8F}"/>
              </a:ext>
            </a:extLst>
          </p:cNvPr>
          <p:cNvSpPr txBox="1"/>
          <p:nvPr/>
        </p:nvSpPr>
        <p:spPr>
          <a:xfrm>
            <a:off x="5545000" y="3237351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64B68"/>
                </a:solidFill>
                <a:latin typeface="Arial"/>
              </a:rPr>
              <a:t>Check data quality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20649A-5B72-A1D5-38E5-9216C291B0D0}"/>
              </a:ext>
            </a:extLst>
          </p:cNvPr>
          <p:cNvSpPr txBox="1"/>
          <p:nvPr/>
        </p:nvSpPr>
        <p:spPr>
          <a:xfrm>
            <a:off x="5545000" y="3567467"/>
            <a:ext cx="4069080" cy="160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 dirty="0">
                <a:latin typeface="Arial"/>
              </a:rPr>
              <a:t>Count missing values and review column completeness.</a:t>
            </a:r>
          </a:p>
        </p:txBody>
      </p:sp>
      <p:cxnSp>
        <p:nvCxnSpPr>
          <p:cNvPr id="34" name="Connector 25">
            <a:extLst>
              <a:ext uri="{FF2B5EF4-FFF2-40B4-BE49-F238E27FC236}">
                <a16:creationId xmlns:a16="http://schemas.microsoft.com/office/drawing/2014/main" id="{AD6FB166-A1FC-0827-5E15-116463C06CC8}"/>
              </a:ext>
            </a:extLst>
          </p:cNvPr>
          <p:cNvCxnSpPr/>
          <p:nvPr/>
        </p:nvCxnSpPr>
        <p:spPr>
          <a:xfrm>
            <a:off x="5060368" y="3749415"/>
            <a:ext cx="0" cy="228600"/>
          </a:xfrm>
          <a:prstGeom prst="line">
            <a:avLst/>
          </a:prstGeom>
          <a:ln w="16510">
            <a:solidFill>
              <a:srgbClr val="D8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26">
            <a:extLst>
              <a:ext uri="{FF2B5EF4-FFF2-40B4-BE49-F238E27FC236}">
                <a16:creationId xmlns:a16="http://schemas.microsoft.com/office/drawing/2014/main" id="{3D16B788-982A-83D2-E2C3-C4D86142ED0D}"/>
              </a:ext>
            </a:extLst>
          </p:cNvPr>
          <p:cNvSpPr/>
          <p:nvPr/>
        </p:nvSpPr>
        <p:spPr>
          <a:xfrm>
            <a:off x="4822624" y="4023735"/>
            <a:ext cx="493776" cy="475488"/>
          </a:xfrm>
          <a:prstGeom prst="roundRect">
            <a:avLst>
              <a:gd name="adj" fmla="val 12000"/>
            </a:avLst>
          </a:prstGeom>
          <a:solidFill>
            <a:srgbClr val="58C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6371E1-6667-89C5-3D04-5962465F276B}"/>
              </a:ext>
            </a:extLst>
          </p:cNvPr>
          <p:cNvSpPr txBox="1"/>
          <p:nvPr/>
        </p:nvSpPr>
        <p:spPr>
          <a:xfrm>
            <a:off x="4822624" y="4051166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97DA12-AD46-5715-BA35-0BD33D391E94}"/>
              </a:ext>
            </a:extLst>
          </p:cNvPr>
          <p:cNvSpPr txBox="1"/>
          <p:nvPr/>
        </p:nvSpPr>
        <p:spPr>
          <a:xfrm>
            <a:off x="5545000" y="4005447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64B68"/>
                </a:solidFill>
                <a:latin typeface="Arial"/>
              </a:rPr>
              <a:t>Explore distributions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726D54-4089-8336-E03C-EF39FC107B63}"/>
              </a:ext>
            </a:extLst>
          </p:cNvPr>
          <p:cNvSpPr txBox="1"/>
          <p:nvPr/>
        </p:nvSpPr>
        <p:spPr>
          <a:xfrm>
            <a:off x="5545000" y="4336007"/>
            <a:ext cx="4069080" cy="160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 dirty="0">
                <a:latin typeface="Arial"/>
              </a:rPr>
              <a:t>Visit frequency, illness counts, gender and income ranges.</a:t>
            </a:r>
          </a:p>
        </p:txBody>
      </p:sp>
      <p:cxnSp>
        <p:nvCxnSpPr>
          <p:cNvPr id="39" name="Connector 30">
            <a:extLst>
              <a:ext uri="{FF2B5EF4-FFF2-40B4-BE49-F238E27FC236}">
                <a16:creationId xmlns:a16="http://schemas.microsoft.com/office/drawing/2014/main" id="{22711F80-B940-7853-A5D9-5ED0E90ED74B}"/>
              </a:ext>
            </a:extLst>
          </p:cNvPr>
          <p:cNvCxnSpPr/>
          <p:nvPr/>
        </p:nvCxnSpPr>
        <p:spPr>
          <a:xfrm>
            <a:off x="5060368" y="4517511"/>
            <a:ext cx="0" cy="228600"/>
          </a:xfrm>
          <a:prstGeom prst="line">
            <a:avLst/>
          </a:prstGeom>
          <a:ln w="16510">
            <a:solidFill>
              <a:srgbClr val="D8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1">
            <a:extLst>
              <a:ext uri="{FF2B5EF4-FFF2-40B4-BE49-F238E27FC236}">
                <a16:creationId xmlns:a16="http://schemas.microsoft.com/office/drawing/2014/main" id="{14EA319D-CA18-5622-D115-DA5C4FCE4112}"/>
              </a:ext>
            </a:extLst>
          </p:cNvPr>
          <p:cNvSpPr/>
          <p:nvPr/>
        </p:nvSpPr>
        <p:spPr>
          <a:xfrm>
            <a:off x="4822624" y="4791831"/>
            <a:ext cx="493776" cy="475488"/>
          </a:xfrm>
          <a:prstGeom prst="roundRect">
            <a:avLst>
              <a:gd name="adj" fmla="val 12000"/>
            </a:avLst>
          </a:prstGeom>
          <a:solidFill>
            <a:srgbClr val="238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15B530-0BE8-015D-9BDC-E5C1F58B31EE}"/>
              </a:ext>
            </a:extLst>
          </p:cNvPr>
          <p:cNvSpPr txBox="1"/>
          <p:nvPr/>
        </p:nvSpPr>
        <p:spPr>
          <a:xfrm>
            <a:off x="4822624" y="4819263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3944A0-C6A8-79AD-98AB-2D9DB773DE41}"/>
              </a:ext>
            </a:extLst>
          </p:cNvPr>
          <p:cNvSpPr txBox="1"/>
          <p:nvPr/>
        </p:nvSpPr>
        <p:spPr>
          <a:xfrm>
            <a:off x="5545000" y="4773543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64B68"/>
                </a:solidFill>
                <a:latin typeface="Arial"/>
              </a:rPr>
              <a:t>Compare groups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B12A81-5B6A-01B8-F481-ABA0AC4B580E}"/>
              </a:ext>
            </a:extLst>
          </p:cNvPr>
          <p:cNvSpPr txBox="1"/>
          <p:nvPr/>
        </p:nvSpPr>
        <p:spPr>
          <a:xfrm>
            <a:off x="5545000" y="5107275"/>
            <a:ext cx="4069080" cy="160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 dirty="0">
                <a:latin typeface="Arial"/>
              </a:rPr>
              <a:t>Mean visits by illness score, gender and chronic status.</a:t>
            </a:r>
          </a:p>
        </p:txBody>
      </p:sp>
      <p:cxnSp>
        <p:nvCxnSpPr>
          <p:cNvPr id="44" name="Connector 35">
            <a:extLst>
              <a:ext uri="{FF2B5EF4-FFF2-40B4-BE49-F238E27FC236}">
                <a16:creationId xmlns:a16="http://schemas.microsoft.com/office/drawing/2014/main" id="{76ED37F8-0CDF-8AD7-A856-D30BA45B1AAE}"/>
              </a:ext>
            </a:extLst>
          </p:cNvPr>
          <p:cNvCxnSpPr/>
          <p:nvPr/>
        </p:nvCxnSpPr>
        <p:spPr>
          <a:xfrm>
            <a:off x="5060368" y="5285607"/>
            <a:ext cx="0" cy="228600"/>
          </a:xfrm>
          <a:prstGeom prst="line">
            <a:avLst/>
          </a:prstGeom>
          <a:ln w="16510">
            <a:solidFill>
              <a:srgbClr val="D8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36">
            <a:extLst>
              <a:ext uri="{FF2B5EF4-FFF2-40B4-BE49-F238E27FC236}">
                <a16:creationId xmlns:a16="http://schemas.microsoft.com/office/drawing/2014/main" id="{1D6FD162-A9E6-15AE-FC7E-47940BBF4659}"/>
              </a:ext>
            </a:extLst>
          </p:cNvPr>
          <p:cNvSpPr/>
          <p:nvPr/>
        </p:nvSpPr>
        <p:spPr>
          <a:xfrm>
            <a:off x="4822624" y="5559927"/>
            <a:ext cx="493776" cy="475488"/>
          </a:xfrm>
          <a:prstGeom prst="roundRect">
            <a:avLst>
              <a:gd name="adj" fmla="val 12000"/>
            </a:avLst>
          </a:prstGeom>
          <a:solidFill>
            <a:srgbClr val="2D9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F3C9EF-576B-B7DA-949D-8ECF78C3E93A}"/>
              </a:ext>
            </a:extLst>
          </p:cNvPr>
          <p:cNvSpPr txBox="1"/>
          <p:nvPr/>
        </p:nvSpPr>
        <p:spPr>
          <a:xfrm>
            <a:off x="4822624" y="5587359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9DC88A-8E8E-5424-5B7C-E71D4393D63A}"/>
              </a:ext>
            </a:extLst>
          </p:cNvPr>
          <p:cNvSpPr txBox="1"/>
          <p:nvPr/>
        </p:nvSpPr>
        <p:spPr>
          <a:xfrm>
            <a:off x="5545000" y="5541639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64B68"/>
                </a:solidFill>
                <a:latin typeface="Arial"/>
              </a:rPr>
              <a:t>Interpret relationships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295456-0342-A975-B43B-2B4986971C4A}"/>
              </a:ext>
            </a:extLst>
          </p:cNvPr>
          <p:cNvSpPr txBox="1"/>
          <p:nvPr/>
        </p:nvSpPr>
        <p:spPr>
          <a:xfrm>
            <a:off x="5545000" y="5875371"/>
            <a:ext cx="4069080" cy="160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 dirty="0">
                <a:latin typeface="Arial"/>
              </a:rPr>
              <a:t>Correlation and scatterplot analysis, with cautious interpretation.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1799DD1-0F77-B955-C88B-57F56BA610B8}"/>
              </a:ext>
            </a:extLst>
          </p:cNvPr>
          <p:cNvSpPr/>
          <p:nvPr/>
        </p:nvSpPr>
        <p:spPr>
          <a:xfrm>
            <a:off x="6550840" y="1558212"/>
            <a:ext cx="773691" cy="498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C93370-6590-F92F-C4FF-D2CE638C2FA4}"/>
              </a:ext>
            </a:extLst>
          </p:cNvPr>
          <p:cNvSpPr txBox="1"/>
          <p:nvPr/>
        </p:nvSpPr>
        <p:spPr>
          <a:xfrm>
            <a:off x="694619" y="1369289"/>
            <a:ext cx="96926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dirty="0">
                <a:latin typeface="Arial"/>
              </a:rPr>
              <a:t>This project analyses a dataset containing information about individuals, health conditions, healthcare support and the number of doctor visits recorded.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F8BA64-A8BA-4C82-7A77-6AA9175ABFD3}"/>
              </a:ext>
            </a:extLst>
          </p:cNvPr>
          <p:cNvSpPr txBox="1"/>
          <p:nvPr/>
        </p:nvSpPr>
        <p:spPr>
          <a:xfrm>
            <a:off x="774440" y="2103914"/>
            <a:ext cx="3819579" cy="39368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1" i="0" dirty="0">
                <a:solidFill>
                  <a:srgbClr val="0071A4"/>
                </a:solidFill>
                <a:latin typeface="Arial"/>
              </a:rPr>
              <a:t>Key Objectives</a:t>
            </a:r>
            <a:endParaRPr lang="en-US" sz="2100" b="1" i="0" dirty="0">
              <a:solidFill>
                <a:srgbClr val="0071A4"/>
              </a:solidFill>
              <a:latin typeface="Arial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Inspect the dataset structure and check its data quality.</a:t>
            </a:r>
          </a:p>
          <a:p>
            <a:pPr marL="285750" indent="-285750" algn="just">
              <a:lnSpc>
                <a:spcPct val="112000"/>
              </a:lnSpc>
              <a:spcAft>
                <a:spcPts val="60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Arial"/>
              </a:rPr>
              <a:t>Explore the distribution of doctor visits and illness scores.</a:t>
            </a:r>
          </a:p>
          <a:p>
            <a:pPr marL="285750" indent="-285750" algn="just">
              <a:lnSpc>
                <a:spcPct val="112000"/>
              </a:lnSpc>
              <a:spcAft>
                <a:spcPts val="60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Arial"/>
              </a:rPr>
              <a:t>Compare visit patterns with chronic conditions and numerical variables.</a:t>
            </a:r>
          </a:p>
          <a:p>
            <a:pPr marL="285750" indent="-285750" algn="just">
              <a:lnSpc>
                <a:spcPct val="112000"/>
              </a:lnSpc>
              <a:spcAft>
                <a:spcPts val="60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Arial"/>
              </a:rPr>
              <a:t>Use charts and summary statistics to interpret the observed patterns.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2100" b="1" i="0" dirty="0">
              <a:solidFill>
                <a:srgbClr val="0071A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7553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B481CEBC-11F3-4481-0778-90DC4AE8FBB8}"/>
              </a:ext>
            </a:extLst>
          </p:cNvPr>
          <p:cNvSpPr/>
          <p:nvPr/>
        </p:nvSpPr>
        <p:spPr>
          <a:xfrm>
            <a:off x="658368" y="1692201"/>
            <a:ext cx="5102352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8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E2CB2467-4E51-5BFA-A9AE-9F386ABEB45E}"/>
              </a:ext>
            </a:extLst>
          </p:cNvPr>
          <p:cNvSpPr/>
          <p:nvPr/>
        </p:nvSpPr>
        <p:spPr>
          <a:xfrm>
            <a:off x="886968" y="1966521"/>
            <a:ext cx="109728" cy="1170432"/>
          </a:xfrm>
          <a:prstGeom prst="roundRect">
            <a:avLst>
              <a:gd name="adj" fmla="val 12000"/>
            </a:avLst>
          </a:prstGeom>
          <a:solidFill>
            <a:srgbClr val="238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84EF7-0E0C-B20D-AA3D-781E324DC635}"/>
              </a:ext>
            </a:extLst>
          </p:cNvPr>
          <p:cNvSpPr txBox="1"/>
          <p:nvPr/>
        </p:nvSpPr>
        <p:spPr>
          <a:xfrm>
            <a:off x="1179576" y="1993953"/>
            <a:ext cx="4233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600" b="1" i="0" dirty="0">
                <a:solidFill>
                  <a:srgbClr val="164B68"/>
                </a:solidFill>
                <a:latin typeface="Arial"/>
              </a:rPr>
              <a:t>HEALTHCARE SERVICE PLANNERS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B1D43-3848-77FE-9568-E6CA5114A868}"/>
              </a:ext>
            </a:extLst>
          </p:cNvPr>
          <p:cNvSpPr txBox="1"/>
          <p:nvPr/>
        </p:nvSpPr>
        <p:spPr>
          <a:xfrm>
            <a:off x="1179576" y="2487729"/>
            <a:ext cx="420624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latin typeface="Arial"/>
              </a:rPr>
              <a:t>Use aggregate patterns to frame questions about service demand and health needs.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35BFF4C8-8C02-9AC9-FFE2-4A8024C37DFD}"/>
              </a:ext>
            </a:extLst>
          </p:cNvPr>
          <p:cNvSpPr/>
          <p:nvPr/>
        </p:nvSpPr>
        <p:spPr>
          <a:xfrm>
            <a:off x="6153912" y="1692201"/>
            <a:ext cx="5102352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8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CFDDD413-9359-947A-A2FB-9AF5FD29638B}"/>
              </a:ext>
            </a:extLst>
          </p:cNvPr>
          <p:cNvSpPr/>
          <p:nvPr/>
        </p:nvSpPr>
        <p:spPr>
          <a:xfrm>
            <a:off x="6382512" y="1966521"/>
            <a:ext cx="109728" cy="1170432"/>
          </a:xfrm>
          <a:prstGeom prst="roundRect">
            <a:avLst>
              <a:gd name="adj" fmla="val 12000"/>
            </a:avLst>
          </a:prstGeom>
          <a:solidFill>
            <a:srgbClr val="2D9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3CCEE6-6762-A7B5-4D43-3E25651ABBE9}"/>
              </a:ext>
            </a:extLst>
          </p:cNvPr>
          <p:cNvSpPr txBox="1"/>
          <p:nvPr/>
        </p:nvSpPr>
        <p:spPr>
          <a:xfrm>
            <a:off x="6675120" y="1993953"/>
            <a:ext cx="4233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600" b="1" i="0" dirty="0">
                <a:solidFill>
                  <a:srgbClr val="164B68"/>
                </a:solidFill>
                <a:latin typeface="Arial"/>
              </a:rPr>
              <a:t>PUBLIC HEALTH RESEARCHERS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A3C43B-A496-BC67-6CDA-33BA3015736D}"/>
              </a:ext>
            </a:extLst>
          </p:cNvPr>
          <p:cNvSpPr txBox="1"/>
          <p:nvPr/>
        </p:nvSpPr>
        <p:spPr>
          <a:xfrm>
            <a:off x="6675120" y="2487729"/>
            <a:ext cx="420624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latin typeface="Arial"/>
              </a:rPr>
              <a:t>Explore how illness burden, reduced activity and chronic conditions relate to visits.</a:t>
            </a:r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50B6544A-A510-1613-9CCE-97B3F54EEF0F}"/>
              </a:ext>
            </a:extLst>
          </p:cNvPr>
          <p:cNvSpPr/>
          <p:nvPr/>
        </p:nvSpPr>
        <p:spPr>
          <a:xfrm>
            <a:off x="658368" y="3868473"/>
            <a:ext cx="5102352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8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4">
            <a:extLst>
              <a:ext uri="{FF2B5EF4-FFF2-40B4-BE49-F238E27FC236}">
                <a16:creationId xmlns:a16="http://schemas.microsoft.com/office/drawing/2014/main" id="{4CD54976-F8D1-1D28-BFF7-7DF21ADE1402}"/>
              </a:ext>
            </a:extLst>
          </p:cNvPr>
          <p:cNvSpPr/>
          <p:nvPr/>
        </p:nvSpPr>
        <p:spPr>
          <a:xfrm>
            <a:off x="886968" y="4142793"/>
            <a:ext cx="109728" cy="1170432"/>
          </a:xfrm>
          <a:prstGeom prst="roundRect">
            <a:avLst>
              <a:gd name="adj" fmla="val 12000"/>
            </a:avLst>
          </a:prstGeom>
          <a:solidFill>
            <a:srgbClr val="58C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6EA9EA-5B4C-B4C6-E9A7-93E5433EDB84}"/>
              </a:ext>
            </a:extLst>
          </p:cNvPr>
          <p:cNvSpPr txBox="1"/>
          <p:nvPr/>
        </p:nvSpPr>
        <p:spPr>
          <a:xfrm>
            <a:off x="1179576" y="4170225"/>
            <a:ext cx="4233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600" b="1" i="0" dirty="0">
                <a:solidFill>
                  <a:srgbClr val="164B68"/>
                </a:solidFill>
                <a:latin typeface="Arial"/>
              </a:rPr>
              <a:t>HEALTHCARE &amp; INSURANCE ANALYSTS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26A869-B024-B03F-A593-25446E793AB2}"/>
              </a:ext>
            </a:extLst>
          </p:cNvPr>
          <p:cNvSpPr txBox="1"/>
          <p:nvPr/>
        </p:nvSpPr>
        <p:spPr>
          <a:xfrm>
            <a:off x="1179576" y="4664001"/>
            <a:ext cx="420624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latin typeface="Arial"/>
              </a:rPr>
              <a:t>Review descriptive differences by recorded healthcare-support indicators.</a:t>
            </a: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DD33C6C7-DC3A-84E1-8459-08B861F51B9B}"/>
              </a:ext>
            </a:extLst>
          </p:cNvPr>
          <p:cNvSpPr/>
          <p:nvPr/>
        </p:nvSpPr>
        <p:spPr>
          <a:xfrm>
            <a:off x="6153912" y="3868473"/>
            <a:ext cx="5102352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8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18">
            <a:extLst>
              <a:ext uri="{FF2B5EF4-FFF2-40B4-BE49-F238E27FC236}">
                <a16:creationId xmlns:a16="http://schemas.microsoft.com/office/drawing/2014/main" id="{A932B648-86D6-EC78-E701-3EA0AFB37932}"/>
              </a:ext>
            </a:extLst>
          </p:cNvPr>
          <p:cNvSpPr/>
          <p:nvPr/>
        </p:nvSpPr>
        <p:spPr>
          <a:xfrm>
            <a:off x="6382512" y="4142793"/>
            <a:ext cx="109728" cy="1170432"/>
          </a:xfrm>
          <a:prstGeom prst="roundRect">
            <a:avLst>
              <a:gd name="adj" fmla="val 12000"/>
            </a:avLst>
          </a:prstGeom>
          <a:solidFill>
            <a:srgbClr val="16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8B295B-200A-FA2F-5DBA-7F03658B7E0D}"/>
              </a:ext>
            </a:extLst>
          </p:cNvPr>
          <p:cNvSpPr txBox="1"/>
          <p:nvPr/>
        </p:nvSpPr>
        <p:spPr>
          <a:xfrm>
            <a:off x="6675120" y="4170225"/>
            <a:ext cx="4233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600" b="1" i="0" dirty="0">
                <a:solidFill>
                  <a:srgbClr val="164B68"/>
                </a:solidFill>
                <a:latin typeface="Arial"/>
              </a:rPr>
              <a:t>STUDENTS &amp; DATA PRACTITIONERS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BA8FCC-1826-344E-8F13-69A19626B1B1}"/>
              </a:ext>
            </a:extLst>
          </p:cNvPr>
          <p:cNvSpPr txBox="1"/>
          <p:nvPr/>
        </p:nvSpPr>
        <p:spPr>
          <a:xfrm>
            <a:off x="6675120" y="4664001"/>
            <a:ext cx="4206240" cy="360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latin typeface="Arial"/>
              </a:rPr>
              <a:t>Practice data profiling, group comparisons, visualization and responsible interpretation.</a:t>
            </a:r>
          </a:p>
        </p:txBody>
      </p:sp>
      <p:sp>
        <p:nvSpPr>
          <p:cNvPr id="38" name="Rounded Rectangle 21">
            <a:extLst>
              <a:ext uri="{FF2B5EF4-FFF2-40B4-BE49-F238E27FC236}">
                <a16:creationId xmlns:a16="http://schemas.microsoft.com/office/drawing/2014/main" id="{E4156064-732D-4567-B41C-62EC9A48B77C}"/>
              </a:ext>
            </a:extLst>
          </p:cNvPr>
          <p:cNvSpPr/>
          <p:nvPr/>
        </p:nvSpPr>
        <p:spPr>
          <a:xfrm>
            <a:off x="658368" y="5898441"/>
            <a:ext cx="10597896" cy="329184"/>
          </a:xfrm>
          <a:prstGeom prst="roundRect">
            <a:avLst>
              <a:gd name="adj" fmla="val 12000"/>
            </a:avLst>
          </a:prstGeom>
          <a:solidFill>
            <a:srgbClr val="EA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4BD95-AA21-7EDD-C8D0-9099354056E2}"/>
              </a:ext>
            </a:extLst>
          </p:cNvPr>
          <p:cNvSpPr txBox="1"/>
          <p:nvPr/>
        </p:nvSpPr>
        <p:spPr>
          <a:xfrm>
            <a:off x="841248" y="5953305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64B68"/>
                </a:solidFill>
                <a:latin typeface="Arial"/>
              </a:rPr>
              <a:t>Appropriate use: aggregate exploration and education. The dataset alone does not support diagnosis or causal claims.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21E60-1D8F-D3BC-E3E1-E4EF2B48BC4E}"/>
              </a:ext>
            </a:extLst>
          </p:cNvPr>
          <p:cNvSpPr txBox="1"/>
          <p:nvPr/>
        </p:nvSpPr>
        <p:spPr>
          <a:xfrm>
            <a:off x="822960" y="1278384"/>
            <a:ext cx="10149840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dirty="0">
                <a:solidFill>
                  <a:srgbClr val="0071A4"/>
                </a:solidFill>
                <a:latin typeface="Arial"/>
              </a:rPr>
              <a:t>Tools used for </a:t>
            </a:r>
            <a:r>
              <a:rPr lang="en-GB" sz="2100" b="1" i="0" dirty="0">
                <a:solidFill>
                  <a:srgbClr val="0071A4"/>
                </a:solidFill>
                <a:latin typeface="Arial"/>
              </a:rPr>
              <a:t>Data Preparation, Analysis And Visualisation</a:t>
            </a:r>
            <a:endParaRPr sz="2100" b="1" i="0" dirty="0">
              <a:solidFill>
                <a:srgbClr val="0071A4"/>
              </a:solidFill>
              <a:latin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D6FCC5-8DAC-B338-D470-222D625BE9F6}"/>
              </a:ext>
            </a:extLst>
          </p:cNvPr>
          <p:cNvSpPr/>
          <p:nvPr/>
        </p:nvSpPr>
        <p:spPr>
          <a:xfrm>
            <a:off x="1473307" y="1894304"/>
            <a:ext cx="77724" cy="77724"/>
          </a:xfrm>
          <a:prstGeom prst="ellipse">
            <a:avLst/>
          </a:prstGeom>
          <a:solidFill>
            <a:srgbClr val="14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A2169-E317-811E-5E3E-0C16A6F1A394}"/>
              </a:ext>
            </a:extLst>
          </p:cNvPr>
          <p:cNvSpPr txBox="1"/>
          <p:nvPr/>
        </p:nvSpPr>
        <p:spPr>
          <a:xfrm>
            <a:off x="1702094" y="1775618"/>
            <a:ext cx="9290304" cy="294504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2026"/>
                </a:solidFill>
                <a:latin typeface="Arial"/>
              </a:rPr>
              <a:t>Python 3</a:t>
            </a:r>
            <a:r>
              <a:rPr sz="1800" dirty="0">
                <a:solidFill>
                  <a:srgbClr val="192026"/>
                </a:solidFill>
                <a:latin typeface="Arial"/>
              </a:rPr>
              <a:t> —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P</a:t>
            </a:r>
            <a:r>
              <a:rPr sz="1800" dirty="0">
                <a:solidFill>
                  <a:srgbClr val="192026"/>
                </a:solidFill>
                <a:latin typeface="Arial"/>
              </a:rPr>
              <a:t>rogramming language for data analysis.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3A0E09-43BD-87F7-E7A8-CC2B0F1CD7DF}"/>
              </a:ext>
            </a:extLst>
          </p:cNvPr>
          <p:cNvSpPr/>
          <p:nvPr/>
        </p:nvSpPr>
        <p:spPr>
          <a:xfrm>
            <a:off x="1482638" y="2479706"/>
            <a:ext cx="77724" cy="77724"/>
          </a:xfrm>
          <a:prstGeom prst="ellipse">
            <a:avLst/>
          </a:prstGeom>
          <a:solidFill>
            <a:srgbClr val="14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F87C7-F7B5-136F-CBF2-755EAE396F03}"/>
              </a:ext>
            </a:extLst>
          </p:cNvPr>
          <p:cNvSpPr txBox="1"/>
          <p:nvPr/>
        </p:nvSpPr>
        <p:spPr>
          <a:xfrm>
            <a:off x="1702094" y="2351690"/>
            <a:ext cx="9290304" cy="294504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192026"/>
                </a:solidFill>
                <a:latin typeface="Arial"/>
              </a:rPr>
              <a:t>Google Colab </a:t>
            </a:r>
            <a:r>
              <a:rPr sz="1800" dirty="0">
                <a:solidFill>
                  <a:srgbClr val="192026"/>
                </a:solidFill>
                <a:latin typeface="Arial"/>
              </a:rPr>
              <a:t>—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W</a:t>
            </a:r>
            <a:r>
              <a:rPr sz="1800" dirty="0">
                <a:solidFill>
                  <a:srgbClr val="192026"/>
                </a:solidFill>
                <a:latin typeface="Arial"/>
              </a:rPr>
              <a:t>riting and running analysis code.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66AF99-DF5F-D011-4D8C-50E7E127FB35}"/>
              </a:ext>
            </a:extLst>
          </p:cNvPr>
          <p:cNvSpPr/>
          <p:nvPr/>
        </p:nvSpPr>
        <p:spPr>
          <a:xfrm>
            <a:off x="1482638" y="3055778"/>
            <a:ext cx="77724" cy="77724"/>
          </a:xfrm>
          <a:prstGeom prst="ellipse">
            <a:avLst/>
          </a:prstGeom>
          <a:solidFill>
            <a:srgbClr val="14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3BDB7D-9A2A-210D-D80B-2EEDAA65F8F0}"/>
              </a:ext>
            </a:extLst>
          </p:cNvPr>
          <p:cNvSpPr txBox="1"/>
          <p:nvPr/>
        </p:nvSpPr>
        <p:spPr>
          <a:xfrm>
            <a:off x="1702094" y="2927762"/>
            <a:ext cx="9290304" cy="294504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2026"/>
                </a:solidFill>
                <a:latin typeface="Arial"/>
              </a:rPr>
              <a:t>Pandas</a:t>
            </a:r>
            <a:r>
              <a:rPr sz="1800" dirty="0">
                <a:solidFill>
                  <a:srgbClr val="192026"/>
                </a:solidFill>
                <a:latin typeface="Arial"/>
              </a:rPr>
              <a:t> —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L</a:t>
            </a:r>
            <a:r>
              <a:rPr sz="1800" dirty="0">
                <a:solidFill>
                  <a:srgbClr val="192026"/>
                </a:solidFill>
                <a:latin typeface="Arial"/>
              </a:rPr>
              <a:t>oading, inspecting, grouping and summarizing the dataset.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867ECB-EA82-0263-F08F-7FAD69AA3F29}"/>
              </a:ext>
            </a:extLst>
          </p:cNvPr>
          <p:cNvSpPr/>
          <p:nvPr/>
        </p:nvSpPr>
        <p:spPr>
          <a:xfrm>
            <a:off x="1482638" y="3631850"/>
            <a:ext cx="77724" cy="77724"/>
          </a:xfrm>
          <a:prstGeom prst="ellipse">
            <a:avLst/>
          </a:prstGeom>
          <a:solidFill>
            <a:srgbClr val="14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224171-B86D-3D92-D125-C7068995880F}"/>
              </a:ext>
            </a:extLst>
          </p:cNvPr>
          <p:cNvSpPr txBox="1"/>
          <p:nvPr/>
        </p:nvSpPr>
        <p:spPr>
          <a:xfrm>
            <a:off x="1702094" y="3503834"/>
            <a:ext cx="9290304" cy="294504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2026"/>
                </a:solidFill>
                <a:latin typeface="Arial"/>
              </a:rPr>
              <a:t>NumPy</a:t>
            </a:r>
            <a:r>
              <a:rPr sz="1800" dirty="0">
                <a:solidFill>
                  <a:srgbClr val="192026"/>
                </a:solidFill>
                <a:latin typeface="Arial"/>
              </a:rPr>
              <a:t> —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N</a:t>
            </a:r>
            <a:r>
              <a:rPr sz="1800" dirty="0">
                <a:solidFill>
                  <a:srgbClr val="192026"/>
                </a:solidFill>
                <a:latin typeface="Arial"/>
              </a:rPr>
              <a:t>umerical operations and calculations.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681545-2E2D-D4B0-A6CE-9C229AE6B438}"/>
              </a:ext>
            </a:extLst>
          </p:cNvPr>
          <p:cNvSpPr/>
          <p:nvPr/>
        </p:nvSpPr>
        <p:spPr>
          <a:xfrm>
            <a:off x="1482638" y="4207922"/>
            <a:ext cx="77724" cy="77724"/>
          </a:xfrm>
          <a:prstGeom prst="ellipse">
            <a:avLst/>
          </a:prstGeom>
          <a:solidFill>
            <a:srgbClr val="14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0F4615-0481-8D58-A6A2-B07284DC6571}"/>
              </a:ext>
            </a:extLst>
          </p:cNvPr>
          <p:cNvSpPr txBox="1"/>
          <p:nvPr/>
        </p:nvSpPr>
        <p:spPr>
          <a:xfrm>
            <a:off x="1702094" y="4079906"/>
            <a:ext cx="9290304" cy="294504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2026"/>
                </a:solidFill>
                <a:latin typeface="Arial"/>
              </a:rPr>
              <a:t>Matplotlib and Seaborn</a:t>
            </a:r>
            <a:r>
              <a:rPr sz="1800" dirty="0">
                <a:solidFill>
                  <a:srgbClr val="192026"/>
                </a:solidFill>
                <a:latin typeface="Arial"/>
              </a:rPr>
              <a:t> —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C</a:t>
            </a:r>
            <a:r>
              <a:rPr sz="1800" dirty="0">
                <a:solidFill>
                  <a:srgbClr val="192026"/>
                </a:solidFill>
                <a:latin typeface="Arial"/>
              </a:rPr>
              <a:t>harts and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S</a:t>
            </a:r>
            <a:r>
              <a:rPr sz="1800" dirty="0">
                <a:solidFill>
                  <a:srgbClr val="192026"/>
                </a:solidFill>
                <a:latin typeface="Arial"/>
              </a:rPr>
              <a:t>tatistical </a:t>
            </a:r>
            <a:r>
              <a:rPr lang="en-US" dirty="0">
                <a:solidFill>
                  <a:srgbClr val="192026"/>
                </a:solidFill>
                <a:latin typeface="Arial"/>
              </a:rPr>
              <a:t>V</a:t>
            </a:r>
            <a:r>
              <a:rPr sz="1800" dirty="0">
                <a:solidFill>
                  <a:srgbClr val="192026"/>
                </a:solidFill>
                <a:latin typeface="Arial"/>
              </a:rPr>
              <a:t>isuali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z</a:t>
            </a:r>
            <a:r>
              <a:rPr sz="1800" dirty="0">
                <a:solidFill>
                  <a:srgbClr val="192026"/>
                </a:solidFill>
                <a:latin typeface="Arial"/>
              </a:rPr>
              <a:t>ation.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1719D81-CCD3-2F0A-DEFD-FC46C7C651D0}"/>
              </a:ext>
            </a:extLst>
          </p:cNvPr>
          <p:cNvSpPr/>
          <p:nvPr/>
        </p:nvSpPr>
        <p:spPr>
          <a:xfrm>
            <a:off x="1482638" y="4783994"/>
            <a:ext cx="77724" cy="77724"/>
          </a:xfrm>
          <a:prstGeom prst="ellipse">
            <a:avLst/>
          </a:prstGeom>
          <a:solidFill>
            <a:srgbClr val="14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D8850B-9EB5-1D98-284A-7A7B8A6E252D}"/>
              </a:ext>
            </a:extLst>
          </p:cNvPr>
          <p:cNvSpPr txBox="1"/>
          <p:nvPr/>
        </p:nvSpPr>
        <p:spPr>
          <a:xfrm>
            <a:off x="1702094" y="4655978"/>
            <a:ext cx="9290304" cy="294504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2026"/>
                </a:solidFill>
                <a:latin typeface="Arial"/>
              </a:rPr>
              <a:t>CSV file</a:t>
            </a:r>
            <a:r>
              <a:rPr sz="1800" dirty="0">
                <a:solidFill>
                  <a:srgbClr val="192026"/>
                </a:solidFill>
                <a:latin typeface="Arial"/>
              </a:rPr>
              <a:t> — </a:t>
            </a:r>
            <a:r>
              <a:rPr lang="en-US" sz="1800" dirty="0">
                <a:solidFill>
                  <a:srgbClr val="192026"/>
                </a:solidFill>
                <a:latin typeface="Arial"/>
              </a:rPr>
              <a:t>S</a:t>
            </a:r>
            <a:r>
              <a:rPr sz="1800" dirty="0">
                <a:solidFill>
                  <a:srgbClr val="192026"/>
                </a:solidFill>
                <a:latin typeface="Arial"/>
              </a:rPr>
              <a:t>ource data for all reported findings.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9BA96F-ED15-6D7C-413C-B6C19AAF7A9C}"/>
              </a:ext>
            </a:extLst>
          </p:cNvPr>
          <p:cNvSpPr txBox="1"/>
          <p:nvPr/>
        </p:nvSpPr>
        <p:spPr>
          <a:xfrm>
            <a:off x="1687911" y="5303520"/>
            <a:ext cx="9546145" cy="5678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071A4"/>
                </a:solidFill>
                <a:latin typeface="Arial"/>
              </a:rPr>
              <a:t>Analysis flow: </a:t>
            </a:r>
            <a:endParaRPr lang="en-US" b="1" i="0" dirty="0">
              <a:solidFill>
                <a:srgbClr val="0071A4"/>
              </a:solidFill>
              <a:latin typeface="Arial"/>
            </a:endParaRPr>
          </a:p>
          <a:p>
            <a:r>
              <a:rPr sz="1650" b="1" i="0" dirty="0">
                <a:solidFill>
                  <a:srgbClr val="00B050"/>
                </a:solidFill>
                <a:latin typeface="Arial"/>
              </a:rPr>
              <a:t>Load → Inspect → Check quality → Explore → Compare</a:t>
            </a:r>
            <a:r>
              <a:rPr lang="en-US" sz="1650" b="1" i="0" dirty="0">
                <a:solidFill>
                  <a:srgbClr val="00B050"/>
                </a:solidFill>
                <a:latin typeface="Arial"/>
              </a:rPr>
              <a:t> </a:t>
            </a:r>
            <a:r>
              <a:rPr lang="en-GB" sz="1650" b="1" dirty="0">
                <a:solidFill>
                  <a:srgbClr val="00B050"/>
                </a:solidFill>
                <a:latin typeface="Arial"/>
              </a:rPr>
              <a:t>→  </a:t>
            </a:r>
            <a:r>
              <a:rPr sz="1650" b="1" i="0" dirty="0">
                <a:solidFill>
                  <a:srgbClr val="00B050"/>
                </a:solidFill>
                <a:latin typeface="Arial"/>
              </a:rPr>
              <a:t>Visualize → Interpret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8814347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sz="2000" b="0" u="sng" dirty="0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https://github.com/zeeshanalisk/Healthcare-Analytics-for-Doctor-Visits-TIRTC </a:t>
            </a:r>
            <a:endParaRPr lang="en-IN" b="0" u="sng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55847-D2B6-7AA2-03B7-6EAF47F35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59" y="1275371"/>
            <a:ext cx="5001778" cy="3776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FB9C4C-8529-4D2D-4750-9E1E79BF9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081" y="1201586"/>
            <a:ext cx="5120650" cy="448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F2FB-2A1F-F0D2-46D7-6053DDD9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EE7A1-BD2C-6E09-D32B-C5B9748ED0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E39811-845C-0F46-FA56-240CBDFA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933E331-A894-B3B1-C465-96725C695C2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728F5D1-7F29-1CA8-D1E3-E7D707E6C65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34B1EC8-28F2-83B3-0539-20EEF6FCDC55}"/>
              </a:ext>
            </a:extLst>
          </p:cNvPr>
          <p:cNvSpPr txBox="1">
            <a:spLocks/>
          </p:cNvSpPr>
          <p:nvPr/>
        </p:nvSpPr>
        <p:spPr>
          <a:xfrm>
            <a:off x="422959" y="6029176"/>
            <a:ext cx="9402176" cy="6357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2000" b="0" u="sng" dirty="0">
                <a:solidFill>
                  <a:schemeClr val="accent6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https://colab.research.google.com/drive/10vGuPkeHhszNCrWL3-2D1G4KOPCS4UYk?usp=sharing </a:t>
            </a:r>
            <a:endParaRPr lang="en-IN" b="0" u="sng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A14B1-FD4F-B92A-AB73-7420D0A17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48" y="1126080"/>
            <a:ext cx="4943789" cy="4829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AA61E6-B438-1937-D9D0-9ED0350D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926" y="1126079"/>
            <a:ext cx="5164494" cy="504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9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10839-0EDE-5AA9-CB04-27140BD7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CEDAB2-3123-45DD-D479-B17A349548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53258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C1E414E-28BF-F6CC-0BB4-157CD1BB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0E641E-A63A-D674-A0C0-D09771B784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3554FE7-F56A-8DAF-7E30-45975195E39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27EAFB-F036-0C92-57BF-A5096A67F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9" y="1453892"/>
            <a:ext cx="5303531" cy="4055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A3345-2A99-F178-C692-9C1F3D93C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8736"/>
            <a:ext cx="5422403" cy="41605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1DBBCE-0AD8-EB30-6738-86AE2790841C}"/>
              </a:ext>
            </a:extLst>
          </p:cNvPr>
          <p:cNvSpPr txBox="1"/>
          <p:nvPr/>
        </p:nvSpPr>
        <p:spPr>
          <a:xfrm>
            <a:off x="740437" y="5990253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Project Link</a:t>
            </a:r>
            <a:endParaRPr lang="en-GB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78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F7E7-745C-9BCF-B6F1-587DDF62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44A3DA-7880-D032-0356-39CA2B773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C50E6E-97D9-EE9D-6292-F68E5382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C69146-3ED6-67CE-A811-ED62AAA9E9B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3F4B77C-DEAE-F810-7BBD-61222B9BDB9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899881-043F-F029-21A3-A25D70F3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39" y="1065720"/>
            <a:ext cx="4177008" cy="25630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82E154-7235-E884-DEF8-87614907A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422101"/>
            <a:ext cx="5184658" cy="4160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112338-A48C-4CC0-8DB0-FC246280B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553" y="2708878"/>
            <a:ext cx="3174489" cy="2572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B5821-ADF0-529C-C428-A23809672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0615" y="4068148"/>
            <a:ext cx="2583590" cy="2649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0A35EC-D4C0-FA24-2182-116B4D3E15B3}"/>
              </a:ext>
            </a:extLst>
          </p:cNvPr>
          <p:cNvSpPr txBox="1"/>
          <p:nvPr/>
        </p:nvSpPr>
        <p:spPr>
          <a:xfrm>
            <a:off x="740437" y="5990253"/>
            <a:ext cx="288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Colab Source Code</a:t>
            </a:r>
            <a:endParaRPr lang="en-GB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59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615</TotalTime>
  <Words>462</Words>
  <Application>Microsoft Office PowerPoint</Application>
  <PresentationFormat>Widescreen</PresentationFormat>
  <Paragraphs>66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PROJECT TITLE –  Healthcare Analytics For Doctor Visit_TIRTC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Beerus Sama</cp:lastModifiedBy>
  <cp:revision>82</cp:revision>
  <dcterms:created xsi:type="dcterms:W3CDTF">2021-07-11T13:13:15Z</dcterms:created>
  <dcterms:modified xsi:type="dcterms:W3CDTF">2026-10-15T03:39:37Z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